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69a5098-b214-b64f-7c65-c4b84045ee3c}">
          <p14:sldIdLst>
            <p14:sldId id="256"/>
          </p14:sldIdLst>
        </p14:section>
        <p14:section name="Problem" id="{13d29eab-0419-fc09-8015-f21cce793941}">
          <p14:sldIdLst>
            <p14:sldId id="257"/>
            <p14:sldId id="258"/>
          </p14:sldIdLst>
        </p14:section>
        <p14:section name="Results" id="{54299125-a532-78ad-8a7a-5e66371dcf2f}">
          <p14:sldIdLst>
            <p14:sldId id="259"/>
          </p14:sldIdLst>
        </p14:section>
        <p14:section name="Demo" id="{0c11f805-58fd-bfa4-2453-af382d00842a}">
          <p14:sldIdLst>
            <p14:sldId id="260"/>
          </p14:sldIdLst>
        </p14:section>
        <p14:section name="Close" id="{588db24f-59e4-71ff-9206-bb512073884a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absolute error (MW)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341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0-6</c:v>
                  </c:pt>
                  <c:pt idx="1">
                    <c:v>6-12</c:v>
                  </c:pt>
                  <c:pt idx="2">
                    <c:v>12-18</c:v>
                  </c:pt>
                  <c:pt idx="3">
                    <c:v>18-24</c:v>
                  </c:pt>
                  <c:pt idx="4">
                    <c:v>24-30</c:v>
                  </c:pt>
                  <c:pt idx="5">
                    <c:v>30-36</c:v>
                  </c:pt>
                  <c:pt idx="6">
                    <c:v>36-42</c:v>
                  </c:pt>
                  <c:pt idx="7">
                    <c:v>42-48</c:v>
                  </c:pt>
                  <c:pt idx="8">
                    <c:v>48-54</c:v>
                  </c:pt>
                  <c:pt idx="9">
                    <c:v>54-60</c:v>
                  </c:pt>
                  <c:pt idx="10">
                    <c:v>60-66</c:v>
                  </c:pt>
                  <c:pt idx="11">
                    <c:v>66-72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1664</c:v>
                </c:pt>
                <c:pt idx="1">
                  <c:v>1731</c:v>
                </c:pt>
                <c:pt idx="2">
                  <c:v>1827</c:v>
                </c:pt>
                <c:pt idx="3">
                  <c:v>1952</c:v>
                </c:pt>
                <c:pt idx="4">
                  <c:v>1971</c:v>
                </c:pt>
                <c:pt idx="5">
                  <c:v>2060</c:v>
                </c:pt>
                <c:pt idx="6">
                  <c:v>2157</c:v>
                </c:pt>
                <c:pt idx="7">
                  <c:v>2325</c:v>
                </c:pt>
                <c:pt idx="8">
                  <c:v>2347</c:v>
                </c:pt>
                <c:pt idx="9">
                  <c:v>2270</c:v>
                </c:pt>
                <c:pt idx="10">
                  <c:v>2363</c:v>
                </c:pt>
                <c:pt idx="11">
                  <c:v>2432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3341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75569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475569"/>
                    </a:solidFill>
                    <a:latin typeface="+mn-lt"/>
                  </a:rPr>
                  <a:t>Hours between publication and delivery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(~0:00-0:35) Hi, I'm presenting the pilot we ran on day-ahead wind forecasting. You buy power for tomorrow before you know the wind. This tool answers the two questions your desk asked: what forecast did we actually have when we decided, and how wrong is it, in megawatts.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(~0:35-1:15) The desk buys power a day ahead. Wind is free but weather-dependent, so the gap is bought from thermal plants. The decision is made the day before delivery, before the day-ahead auctions close at 09:20 and 09:50 UK time. So the only forecast that counts is the one that existed at decision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(~1:15-1:50) The pilot answers two questions: the latest national wind forecast available at the moment of decision, and how wrong it typically is. One rule makes it fair: only forecasts published at or before the cutoff count. In this pilot the cutoff is 09:00 UTC: the 07:30 forecast is the last one we can use, and the 09:30 one is ignored. Data is Elexon's national wind only: WINDFOR forecasts and FUELHH actuals.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(~1:50-2:30) Over 31 decision days and 1,488 half-hours: the typical miss is about 2 gigawatts. The forecast runs about 1.7 gigawatts high on average — relying on it alone would leave you short. And 19 out of 20 half-hours miss by less than 5.3 gigawatts, which is how you size the buffer. Forecasts also get better as delivery gets closer: about 1.7 gigawatts typical miss at 0 to 6 hours ahead, about 2.4 at 66 to 72.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(~2:30-5:00) DEMO. Decision view for 5 January, a typical day (MAE 2,093): the 48 half-hours with the forecast that existed at 09:00, the chart with the planning band. Then Accuracy: the metrics, the takeaway, and the horizon chart showing shorter horizons are more accurate. Move the cutoff to 00:00: the last four slots of the day (22:00 to 23:30) have no forecast and are dropped and counted. Back to 09:00: nothing dropped. Close with the buffer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(~5:00 close) Our recommendation: plan buffers from the P95 miss, and treat the 1.7 gigawatt bias as a known lean while we study a correction. Next steps are a live ingest job, out-of-sample validation, and extending to other fuels.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31520" y="1828800"/>
            <a:ext cx="58521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6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3749040"/>
            <a:ext cx="56692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Wind forecast desk  ·  January 2026 pilot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Wind forecast desk  ·  January 2026 pilot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nth pill"/>
          <p:cNvSpPr/>
          <p:nvPr/>
        </p:nvSpPr>
        <p:spPr>
          <a:xfrm>
            <a:off x="731520" y="1280160"/>
            <a:ext cx="233172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Month pill text"/>
          <p:cNvSpPr txBox="1"/>
          <p:nvPr/>
        </p:nvSpPr>
        <p:spPr>
          <a:xfrm>
            <a:off x="731520" y="12801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JANUARY 2026 PILOT</a:t>
            </a:r>
            <a:endParaRPr lang="en-US" sz="12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731520" y="1828800"/>
            <a:ext cx="5852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Wind forecast desk</a:t>
            </a:r>
            <a:endParaRPr lang="en-US" sz="56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731520" y="374904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A day-ahead wind forecasting and error pilot for the trading desk</a:t>
            </a:r>
            <a:endParaRPr lang="en-US" sz="2200" dirty="0"/>
          </a:p>
        </p:txBody>
      </p:sp>
      <p:sp>
        <p:nvSpPr>
          <p:cNvPr id="6" name="Data line"/>
          <p:cNvSpPr txBox="1"/>
          <p:nvPr/>
        </p:nvSpPr>
        <p:spPr>
          <a:xfrm>
            <a:off x="731520" y="49834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Elexon national wind data  ·  forecasts and actuals</a:t>
            </a:r>
            <a:endParaRPr lang="en-US" sz="1400" dirty="0"/>
          </a:p>
        </p:txBody>
      </p:sp>
      <p:pic>
        <p:nvPicPr>
          <p:cNvPr id="7" name="Decision view screenshot" descr="Screenshot of the Decision view: key figures and a chart of forecast against actual wind for one d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280160"/>
            <a:ext cx="4754880" cy="424281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The problem: you buy before you know the wind</a:t>
            </a:r>
            <a:endParaRPr lang="en-US" sz="3400" dirty="0"/>
          </a:p>
        </p:txBody>
      </p:sp>
      <p:sp>
        <p:nvSpPr>
          <p:cNvPr id="3" name="Row 1 circle"/>
          <p:cNvSpPr/>
          <p:nvPr/>
        </p:nvSpPr>
        <p:spPr>
          <a:xfrm>
            <a:off x="548640" y="1691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Row 1 icon" descr="Row 1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905610"/>
            <a:ext cx="395021" cy="395021"/>
          </a:xfrm>
          <a:prstGeom prst="rect">
            <a:avLst/>
          </a:prstGeom>
        </p:spPr>
      </p:pic>
      <p:sp>
        <p:nvSpPr>
          <p:cNvPr id="5" name="Row 1 heading"/>
          <p:cNvSpPr txBox="1"/>
          <p:nvPr/>
        </p:nvSpPr>
        <p:spPr>
          <a:xfrm>
            <a:off x="1645920" y="167335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You buy electricity for tomorrow</a:t>
            </a:r>
            <a:endParaRPr lang="en-US" sz="2200" dirty="0"/>
          </a:p>
        </p:txBody>
      </p:sp>
      <p:sp>
        <p:nvSpPr>
          <p:cNvPr id="6" name="Row 1 text"/>
          <p:cNvSpPr txBox="1"/>
          <p:nvPr/>
        </p:nvSpPr>
        <p:spPr>
          <a:xfrm>
            <a:off x="1645920" y="213055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One day ahead, at the day-ahead auction.</a:t>
            </a:r>
            <a:endParaRPr lang="en-US" sz="1600" dirty="0"/>
          </a:p>
        </p:txBody>
      </p:sp>
      <p:sp>
        <p:nvSpPr>
          <p:cNvPr id="7" name="Row 2 circle"/>
          <p:cNvSpPr/>
          <p:nvPr/>
        </p:nvSpPr>
        <p:spPr>
          <a:xfrm>
            <a:off x="548640" y="31546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Row 2 icon" descr="Row 2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10" y="3368650"/>
            <a:ext cx="395021" cy="395021"/>
          </a:xfrm>
          <a:prstGeom prst="rect">
            <a:avLst/>
          </a:prstGeom>
        </p:spPr>
      </p:pic>
      <p:sp>
        <p:nvSpPr>
          <p:cNvPr id="9" name="Row 2 heading"/>
          <p:cNvSpPr txBox="1"/>
          <p:nvPr/>
        </p:nvSpPr>
        <p:spPr>
          <a:xfrm>
            <a:off x="1645920" y="313639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Wind is free but uncertain</a:t>
            </a:r>
            <a:endParaRPr lang="en-US" sz="2200" dirty="0"/>
          </a:p>
        </p:txBody>
      </p:sp>
      <p:sp>
        <p:nvSpPr>
          <p:cNvPr id="10" name="Row 2 text"/>
          <p:cNvSpPr txBox="1"/>
          <p:nvPr/>
        </p:nvSpPr>
        <p:spPr>
          <a:xfrm>
            <a:off x="1645920" y="35935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You forecast it, then buy the gap from thermal plants.</a:t>
            </a:r>
            <a:endParaRPr lang="en-US" sz="1600" dirty="0"/>
          </a:p>
        </p:txBody>
      </p:sp>
      <p:sp>
        <p:nvSpPr>
          <p:cNvPr id="11" name="Row 3 circle"/>
          <p:cNvSpPr/>
          <p:nvPr/>
        </p:nvSpPr>
        <p:spPr>
          <a:xfrm>
            <a:off x="548640" y="46177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Row 3 icon" descr="Row 3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610" y="4831690"/>
            <a:ext cx="395021" cy="395021"/>
          </a:xfrm>
          <a:prstGeom prst="rect">
            <a:avLst/>
          </a:prstGeom>
        </p:spPr>
      </p:pic>
      <p:sp>
        <p:nvSpPr>
          <p:cNvPr id="13" name="Row 3 heading"/>
          <p:cNvSpPr txBox="1"/>
          <p:nvPr/>
        </p:nvSpPr>
        <p:spPr>
          <a:xfrm>
            <a:off x="1645920" y="459943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decision is made on D-1</a:t>
            </a:r>
            <a:endParaRPr lang="en-US" sz="2200" dirty="0"/>
          </a:p>
        </p:txBody>
      </p:sp>
      <p:sp>
        <p:nvSpPr>
          <p:cNvPr id="14" name="Row 3 text"/>
          <p:cNvSpPr txBox="1"/>
          <p:nvPr/>
        </p:nvSpPr>
        <p:spPr>
          <a:xfrm>
            <a:off x="1645920" y="505663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Before gate closure: 09:20 (EPEX) and 09:50 (N2EX), UK time.</a:t>
            </a:r>
            <a:endParaRPr lang="en-US" sz="1600" dirty="0"/>
          </a:p>
        </p:txBody>
      </p:sp>
      <p:sp>
        <p:nvSpPr>
          <p:cNvPr id="15" name="Callout card"/>
          <p:cNvSpPr/>
          <p:nvPr/>
        </p:nvSpPr>
        <p:spPr>
          <a:xfrm>
            <a:off x="7223760" y="1600200"/>
            <a:ext cx="438912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</p:spPr>
      </p:sp>
      <p:sp>
        <p:nvSpPr>
          <p:cNvPr id="16" name="Callout circle"/>
          <p:cNvSpPr/>
          <p:nvPr/>
        </p:nvSpPr>
        <p:spPr>
          <a:xfrm>
            <a:off x="7589520" y="196596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Callout icon" descr="Callou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1602" y="2168042"/>
            <a:ext cx="373075" cy="373075"/>
          </a:xfrm>
          <a:prstGeom prst="rect">
            <a:avLst/>
          </a:prstGeom>
        </p:spPr>
      </p:pic>
      <p:sp>
        <p:nvSpPr>
          <p:cNvPr id="18" name="Callout statement"/>
          <p:cNvSpPr txBox="1"/>
          <p:nvPr/>
        </p:nvSpPr>
        <p:spPr>
          <a:xfrm>
            <a:off x="7589520" y="2971800"/>
            <a:ext cx="3657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What matters is the forecast that existed when you decided</a:t>
            </a:r>
            <a:endParaRPr lang="en-US" sz="2800" dirty="0"/>
          </a:p>
        </p:txBody>
      </p:sp>
      <p:sp>
        <p:nvSpPr>
          <p:cNvPr id="19" name="Callout contrast"/>
          <p:cNvSpPr txBox="1"/>
          <p:nvPr/>
        </p:nvSpPr>
        <p:spPr>
          <a:xfrm>
            <a:off x="7589520" y="4846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not the one published after.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Two questions, one rule</a:t>
            </a:r>
            <a:endParaRPr lang="en-US" sz="3400" dirty="0"/>
          </a:p>
        </p:txBody>
      </p:sp>
      <p:sp>
        <p:nvSpPr>
          <p:cNvPr id="3" name="Question 1 card"/>
          <p:cNvSpPr/>
          <p:nvPr/>
        </p:nvSpPr>
        <p:spPr>
          <a:xfrm>
            <a:off x="548640" y="1600200"/>
            <a:ext cx="475488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4" name="Question 1 number circle"/>
          <p:cNvSpPr/>
          <p:nvPr/>
        </p:nvSpPr>
        <p:spPr>
          <a:xfrm>
            <a:off x="822960" y="20574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Question 1 number"/>
          <p:cNvSpPr txBox="1"/>
          <p:nvPr/>
        </p:nvSpPr>
        <p:spPr>
          <a:xfrm>
            <a:off x="82296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</a:t>
            </a:r>
            <a:endParaRPr lang="en-US" sz="2800" dirty="0"/>
          </a:p>
        </p:txBody>
      </p:sp>
      <p:sp>
        <p:nvSpPr>
          <p:cNvPr id="6" name="Question 1"/>
          <p:cNvSpPr txBox="1"/>
          <p:nvPr/>
        </p:nvSpPr>
        <p:spPr>
          <a:xfrm>
            <a:off x="1783080" y="1783080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What was the latest national wind forecast available when we decided?</a:t>
            </a:r>
            <a:endParaRPr lang="en-US" sz="1900" dirty="0"/>
          </a:p>
        </p:txBody>
      </p:sp>
      <p:sp>
        <p:nvSpPr>
          <p:cNvPr id="7" name="Question 2 card"/>
          <p:cNvSpPr/>
          <p:nvPr/>
        </p:nvSpPr>
        <p:spPr>
          <a:xfrm>
            <a:off x="548640" y="3566160"/>
            <a:ext cx="475488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8" name="Question 2 number circle"/>
          <p:cNvSpPr/>
          <p:nvPr/>
        </p:nvSpPr>
        <p:spPr>
          <a:xfrm>
            <a:off x="822960" y="4023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Question 2 number"/>
          <p:cNvSpPr txBox="1"/>
          <p:nvPr/>
        </p:nvSpPr>
        <p:spPr>
          <a:xfrm>
            <a:off x="822960" y="4023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</a:t>
            </a:r>
            <a:endParaRPr lang="en-US" sz="2800" dirty="0"/>
          </a:p>
        </p:txBody>
      </p:sp>
      <p:sp>
        <p:nvSpPr>
          <p:cNvPr id="10" name="Question 2"/>
          <p:cNvSpPr txBox="1"/>
          <p:nvPr/>
        </p:nvSpPr>
        <p:spPr>
          <a:xfrm>
            <a:off x="1783080" y="3749040"/>
            <a:ext cx="3337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How wrong is that forecast, in MW, so we can size a buffer?</a:t>
            </a:r>
            <a:endParaRPr lang="en-US" sz="1900" dirty="0"/>
          </a:p>
        </p:txBody>
      </p:sp>
      <p:sp>
        <p:nvSpPr>
          <p:cNvPr id="11" name="Rule card"/>
          <p:cNvSpPr/>
          <p:nvPr/>
        </p:nvSpPr>
        <p:spPr>
          <a:xfrm>
            <a:off x="5623560" y="1600200"/>
            <a:ext cx="5989320" cy="35661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sp>
      <p:sp>
        <p:nvSpPr>
          <p:cNvPr id="12" name="Rule heading"/>
          <p:cNvSpPr txBox="1"/>
          <p:nvPr/>
        </p:nvSpPr>
        <p:spPr>
          <a:xfrm>
            <a:off x="5897880" y="178308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rule: only forecasts published at or before the cutoff count. Everything later is ignored.</a:t>
            </a:r>
            <a:endParaRPr lang="en-US" sz="1500" dirty="0"/>
          </a:p>
        </p:txBody>
      </p:sp>
      <p:sp>
        <p:nvSpPr>
          <p:cNvPr id="13" name="Timeline axis"/>
          <p:cNvSpPr/>
          <p:nvPr/>
        </p:nvSpPr>
        <p:spPr>
          <a:xfrm>
            <a:off x="6035040" y="3840480"/>
            <a:ext cx="52120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14" name="Tick 0"/>
          <p:cNvSpPr/>
          <p:nvPr/>
        </p:nvSpPr>
        <p:spPr>
          <a:xfrm>
            <a:off x="6035040" y="3840480"/>
            <a:ext cx="0" cy="914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5" name="Tick label 0"/>
          <p:cNvSpPr txBox="1"/>
          <p:nvPr/>
        </p:nvSpPr>
        <p:spPr>
          <a:xfrm>
            <a:off x="5669280" y="39684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00:00</a:t>
            </a:r>
            <a:endParaRPr lang="en-US" sz="1100" dirty="0"/>
          </a:p>
        </p:txBody>
      </p:sp>
      <p:sp>
        <p:nvSpPr>
          <p:cNvPr id="16" name="Tick 3"/>
          <p:cNvSpPr/>
          <p:nvPr/>
        </p:nvSpPr>
        <p:spPr>
          <a:xfrm>
            <a:off x="7338060" y="3840480"/>
            <a:ext cx="0" cy="914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7" name="Tick label 3"/>
          <p:cNvSpPr txBox="1"/>
          <p:nvPr/>
        </p:nvSpPr>
        <p:spPr>
          <a:xfrm>
            <a:off x="6972300" y="39684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03:00</a:t>
            </a:r>
            <a:endParaRPr lang="en-US" sz="1100" dirty="0"/>
          </a:p>
        </p:txBody>
      </p:sp>
      <p:sp>
        <p:nvSpPr>
          <p:cNvPr id="18" name="Tick 6"/>
          <p:cNvSpPr/>
          <p:nvPr/>
        </p:nvSpPr>
        <p:spPr>
          <a:xfrm>
            <a:off x="8641080" y="3840480"/>
            <a:ext cx="0" cy="914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9" name="Tick label 6"/>
          <p:cNvSpPr txBox="1"/>
          <p:nvPr/>
        </p:nvSpPr>
        <p:spPr>
          <a:xfrm>
            <a:off x="8275320" y="39684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06:00</a:t>
            </a:r>
            <a:endParaRPr lang="en-US" sz="1100" dirty="0"/>
          </a:p>
        </p:txBody>
      </p:sp>
      <p:sp>
        <p:nvSpPr>
          <p:cNvPr id="20" name="Tick 9"/>
          <p:cNvSpPr/>
          <p:nvPr/>
        </p:nvSpPr>
        <p:spPr>
          <a:xfrm>
            <a:off x="9944100" y="3840480"/>
            <a:ext cx="0" cy="914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1" name="Tick label 9"/>
          <p:cNvSpPr txBox="1"/>
          <p:nvPr/>
        </p:nvSpPr>
        <p:spPr>
          <a:xfrm>
            <a:off x="9578340" y="39684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09:00</a:t>
            </a:r>
            <a:endParaRPr lang="en-US" sz="1100" dirty="0"/>
          </a:p>
        </p:txBody>
      </p:sp>
      <p:sp>
        <p:nvSpPr>
          <p:cNvPr id="22" name="Tick 12"/>
          <p:cNvSpPr/>
          <p:nvPr/>
        </p:nvSpPr>
        <p:spPr>
          <a:xfrm>
            <a:off x="11247120" y="3840480"/>
            <a:ext cx="0" cy="914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3" name="Tick label 12"/>
          <p:cNvSpPr txBox="1"/>
          <p:nvPr/>
        </p:nvSpPr>
        <p:spPr>
          <a:xfrm>
            <a:off x="10881360" y="39684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12:00</a:t>
            </a:r>
            <a:endParaRPr lang="en-US" sz="1100" dirty="0"/>
          </a:p>
        </p:txBody>
      </p:sp>
      <p:sp>
        <p:nvSpPr>
          <p:cNvPr id="24" name="Cutoff line"/>
          <p:cNvSpPr/>
          <p:nvPr/>
        </p:nvSpPr>
        <p:spPr>
          <a:xfrm>
            <a:off x="9944100" y="2697480"/>
            <a:ext cx="0" cy="114300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dash"/>
          </a:ln>
        </p:spPr>
      </p:sp>
      <p:sp>
        <p:nvSpPr>
          <p:cNvPr id="25" name="Cutoff label"/>
          <p:cNvSpPr txBox="1"/>
          <p:nvPr/>
        </p:nvSpPr>
        <p:spPr>
          <a:xfrm>
            <a:off x="9166860" y="248716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Cutoff 09:00</a:t>
            </a:r>
            <a:endParaRPr lang="en-US" sz="1200" dirty="0"/>
          </a:p>
        </p:txBody>
      </p:sp>
      <p:sp>
        <p:nvSpPr>
          <p:cNvPr id="26" name="Forecast 02:30"/>
          <p:cNvSpPr/>
          <p:nvPr/>
        </p:nvSpPr>
        <p:spPr>
          <a:xfrm>
            <a:off x="7020306" y="3319272"/>
            <a:ext cx="201168" cy="2011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Forecast 02:30 label"/>
          <p:cNvSpPr txBox="1"/>
          <p:nvPr/>
        </p:nvSpPr>
        <p:spPr>
          <a:xfrm>
            <a:off x="6709410" y="29260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02:30</a:t>
            </a:r>
            <a:endParaRPr lang="en-US" sz="1200" dirty="0"/>
          </a:p>
        </p:txBody>
      </p:sp>
      <p:sp>
        <p:nvSpPr>
          <p:cNvPr id="28" name="Forecast 04:30"/>
          <p:cNvSpPr/>
          <p:nvPr/>
        </p:nvSpPr>
        <p:spPr>
          <a:xfrm>
            <a:off x="7888986" y="3319272"/>
            <a:ext cx="201168" cy="2011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Forecast 04:30 label"/>
          <p:cNvSpPr txBox="1"/>
          <p:nvPr/>
        </p:nvSpPr>
        <p:spPr>
          <a:xfrm>
            <a:off x="7578090" y="29260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04:30</a:t>
            </a:r>
            <a:endParaRPr lang="en-US" sz="1200" dirty="0"/>
          </a:p>
        </p:txBody>
      </p:sp>
      <p:sp>
        <p:nvSpPr>
          <p:cNvPr id="30" name="Forecast 07:30"/>
          <p:cNvSpPr/>
          <p:nvPr/>
        </p:nvSpPr>
        <p:spPr>
          <a:xfrm>
            <a:off x="9137142" y="3264408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Forecast 07:30 label"/>
          <p:cNvSpPr txBox="1"/>
          <p:nvPr/>
        </p:nvSpPr>
        <p:spPr>
          <a:xfrm>
            <a:off x="8881110" y="29260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07:30</a:t>
            </a:r>
            <a:endParaRPr lang="en-US" sz="1200" dirty="0"/>
          </a:p>
        </p:txBody>
      </p:sp>
      <p:sp>
        <p:nvSpPr>
          <p:cNvPr id="32" name="Forecast 09:30"/>
          <p:cNvSpPr/>
          <p:nvPr/>
        </p:nvSpPr>
        <p:spPr>
          <a:xfrm>
            <a:off x="10060686" y="3319272"/>
            <a:ext cx="201168" cy="201168"/>
          </a:xfrm>
          <a:prstGeom prst="ellipse">
            <a:avLst/>
          </a:prstGeom>
          <a:solidFill>
            <a:schemeClr val="accent5">
              <a:alpha val="45000"/>
            </a:schemeClr>
          </a:solidFill>
          <a:ln/>
        </p:spPr>
      </p:sp>
      <p:sp>
        <p:nvSpPr>
          <p:cNvPr id="33" name="Forecast 09:30 label"/>
          <p:cNvSpPr txBox="1"/>
          <p:nvPr/>
        </p:nvSpPr>
        <p:spPr>
          <a:xfrm>
            <a:off x="9749790" y="29260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09:30</a:t>
            </a:r>
            <a:endParaRPr lang="en-US" sz="1200" dirty="0"/>
          </a:p>
        </p:txBody>
      </p:sp>
      <p:sp>
        <p:nvSpPr>
          <p:cNvPr id="34" name="Gates label"/>
          <p:cNvSpPr txBox="1"/>
          <p:nvPr/>
        </p:nvSpPr>
        <p:spPr>
          <a:xfrm>
            <a:off x="7863840" y="422452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Auction gates close 09:20 and 09:50</a:t>
            </a:r>
            <a:endParaRPr lang="en-US" sz="1100" dirty="0"/>
          </a:p>
        </p:txBody>
      </p:sp>
      <p:sp>
        <p:nvSpPr>
          <p:cNvPr id="35" name="Legend dot version"/>
          <p:cNvSpPr/>
          <p:nvPr/>
        </p:nvSpPr>
        <p:spPr>
          <a:xfrm>
            <a:off x="5852160" y="4745736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6" name="Legend version"/>
          <p:cNvSpPr txBox="1"/>
          <p:nvPr/>
        </p:nvSpPr>
        <p:spPr>
          <a:xfrm>
            <a:off x="6126480" y="47091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Forecast version</a:t>
            </a:r>
            <a:endParaRPr lang="en-US" sz="1200" dirty="0"/>
          </a:p>
        </p:txBody>
      </p:sp>
      <p:sp>
        <p:nvSpPr>
          <p:cNvPr id="37" name="Legend dot used"/>
          <p:cNvSpPr/>
          <p:nvPr/>
        </p:nvSpPr>
        <p:spPr>
          <a:xfrm>
            <a:off x="7452360" y="4690872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8" name="Legend used"/>
          <p:cNvSpPr txBox="1"/>
          <p:nvPr/>
        </p:nvSpPr>
        <p:spPr>
          <a:xfrm>
            <a:off x="7845552" y="47091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Latest at cutoff (used)</a:t>
            </a:r>
            <a:endParaRPr lang="en-US" sz="1200" dirty="0"/>
          </a:p>
        </p:txBody>
      </p:sp>
      <p:sp>
        <p:nvSpPr>
          <p:cNvPr id="39" name="Legend dot late"/>
          <p:cNvSpPr/>
          <p:nvPr/>
        </p:nvSpPr>
        <p:spPr>
          <a:xfrm>
            <a:off x="9692640" y="4745736"/>
            <a:ext cx="182880" cy="182880"/>
          </a:xfrm>
          <a:prstGeom prst="ellipse">
            <a:avLst/>
          </a:prstGeom>
          <a:solidFill>
            <a:schemeClr val="accent5">
              <a:alpha val="45000"/>
            </a:schemeClr>
          </a:solidFill>
          <a:ln/>
        </p:spPr>
      </p:sp>
      <p:sp>
        <p:nvSpPr>
          <p:cNvPr id="40" name="Legend late"/>
          <p:cNvSpPr txBox="1"/>
          <p:nvPr/>
        </p:nvSpPr>
        <p:spPr>
          <a:xfrm>
            <a:off x="9966960" y="47091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After cutoff (ignored)</a:t>
            </a:r>
            <a:endParaRPr lang="en-US" sz="1200" dirty="0"/>
          </a:p>
        </p:txBody>
      </p:sp>
      <p:sp>
        <p:nvSpPr>
          <p:cNvPr id="41" name="Data strip"/>
          <p:cNvSpPr/>
          <p:nvPr/>
        </p:nvSpPr>
        <p:spPr>
          <a:xfrm>
            <a:off x="548640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/>
        </p:spPr>
      </p:sp>
      <p:sp>
        <p:nvSpPr>
          <p:cNvPr id="42" name="Data circle"/>
          <p:cNvSpPr/>
          <p:nvPr/>
        </p:nvSpPr>
        <p:spPr>
          <a:xfrm>
            <a:off x="777240" y="55321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3" name="Data icon" descr="Data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5662879"/>
            <a:ext cx="241402" cy="241402"/>
          </a:xfrm>
          <a:prstGeom prst="rect">
            <a:avLst/>
          </a:prstGeom>
        </p:spPr>
      </p:pic>
      <p:sp>
        <p:nvSpPr>
          <p:cNvPr id="44" name="Data text"/>
          <p:cNvSpPr txBox="1"/>
          <p:nvPr/>
        </p:nvSpPr>
        <p:spPr>
          <a:xfrm>
            <a:off x="1463040" y="54406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Data: Elexon WINDFOR (forecasts) and FUELHH (actuals)  ·  national wind  ·  January 2026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January 2026 at a glance</a:t>
            </a:r>
            <a:endParaRPr lang="en-US" sz="3400" dirty="0"/>
          </a:p>
        </p:txBody>
      </p:sp>
      <p:sp>
        <p:nvSpPr>
          <p:cNvPr id="3" name="Stat 1 card"/>
          <p:cNvSpPr/>
          <p:nvPr/>
        </p:nvSpPr>
        <p:spPr>
          <a:xfrm>
            <a:off x="548640" y="1508760"/>
            <a:ext cx="265176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4" name="Stat 1 value"/>
          <p:cNvSpPr txBox="1"/>
          <p:nvPr/>
        </p:nvSpPr>
        <p:spPr>
          <a:xfrm>
            <a:off x="777240" y="16459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31</a:t>
            </a:r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 days</a:t>
            </a:r>
            <a:endParaRPr lang="en-US" sz="3800" dirty="0"/>
          </a:p>
        </p:txBody>
      </p:sp>
      <p:sp>
        <p:nvSpPr>
          <p:cNvPr id="5" name="Stat 1 label"/>
          <p:cNvSpPr txBox="1"/>
          <p:nvPr/>
        </p:nvSpPr>
        <p:spPr>
          <a:xfrm>
            <a:off x="777240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decision days</a:t>
            </a:r>
            <a:endParaRPr lang="en-US" sz="1600" dirty="0"/>
          </a:p>
        </p:txBody>
      </p:sp>
      <p:sp>
        <p:nvSpPr>
          <p:cNvPr id="6" name="Stat 1 note"/>
          <p:cNvSpPr txBox="1"/>
          <p:nvPr/>
        </p:nvSpPr>
        <p:spPr>
          <a:xfrm>
            <a:off x="777240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1,488 half-hours checked</a:t>
            </a:r>
            <a:endParaRPr lang="en-US" sz="1300" dirty="0"/>
          </a:p>
        </p:txBody>
      </p:sp>
      <p:sp>
        <p:nvSpPr>
          <p:cNvPr id="7" name="Stat 2 card"/>
          <p:cNvSpPr/>
          <p:nvPr/>
        </p:nvSpPr>
        <p:spPr>
          <a:xfrm>
            <a:off x="3355848" y="1508760"/>
            <a:ext cx="265176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8" name="Stat 2 value"/>
          <p:cNvSpPr txBox="1"/>
          <p:nvPr/>
        </p:nvSpPr>
        <p:spPr>
          <a:xfrm>
            <a:off x="3584448" y="16459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2,042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 MW</a:t>
            </a:r>
            <a:endParaRPr lang="en-US" sz="3800" dirty="0"/>
          </a:p>
        </p:txBody>
      </p:sp>
      <p:sp>
        <p:nvSpPr>
          <p:cNvPr id="9" name="Stat 2 label"/>
          <p:cNvSpPr txBox="1"/>
          <p:nvPr/>
        </p:nvSpPr>
        <p:spPr>
          <a:xfrm>
            <a:off x="3584448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typical miss</a:t>
            </a:r>
            <a:endParaRPr lang="en-US" sz="1600" dirty="0"/>
          </a:p>
        </p:txBody>
      </p:sp>
      <p:sp>
        <p:nvSpPr>
          <p:cNvPr id="10" name="Stat 2 note"/>
          <p:cNvSpPr txBox="1"/>
          <p:nvPr/>
        </p:nvSpPr>
        <p:spPr>
          <a:xfrm>
            <a:off x="3584448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mean absolute error</a:t>
            </a:r>
            <a:endParaRPr lang="en-US" sz="1300" dirty="0"/>
          </a:p>
        </p:txBody>
      </p:sp>
      <p:sp>
        <p:nvSpPr>
          <p:cNvPr id="11" name="Stat 3 card"/>
          <p:cNvSpPr/>
          <p:nvPr/>
        </p:nvSpPr>
        <p:spPr>
          <a:xfrm>
            <a:off x="6163056" y="1508760"/>
            <a:ext cx="265176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2" name="Stat 3 value"/>
          <p:cNvSpPr txBox="1"/>
          <p:nvPr/>
        </p:nvSpPr>
        <p:spPr>
          <a:xfrm>
            <a:off x="6391656" y="16459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2"/>
                </a:solidFill>
              </a:rPr>
              <a:t>+1,748</a:t>
            </a:r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 MW</a:t>
            </a:r>
            <a:endParaRPr lang="en-US" sz="3800" dirty="0"/>
          </a:p>
        </p:txBody>
      </p:sp>
      <p:sp>
        <p:nvSpPr>
          <p:cNvPr id="13" name="Stat 3 label"/>
          <p:cNvSpPr txBox="1"/>
          <p:nvPr/>
        </p:nvSpPr>
        <p:spPr>
          <a:xfrm>
            <a:off x="6391656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forecast runs high</a:t>
            </a:r>
            <a:endParaRPr lang="en-US" sz="1600" dirty="0"/>
          </a:p>
        </p:txBody>
      </p:sp>
      <p:sp>
        <p:nvSpPr>
          <p:cNvPr id="14" name="Stat 3 note"/>
          <p:cNvSpPr txBox="1"/>
          <p:nvPr/>
        </p:nvSpPr>
        <p:spPr>
          <a:xfrm>
            <a:off x="6391656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on average, so you would be short</a:t>
            </a:r>
            <a:endParaRPr lang="en-US" sz="1300" dirty="0"/>
          </a:p>
        </p:txBody>
      </p:sp>
      <p:sp>
        <p:nvSpPr>
          <p:cNvPr id="15" name="Stat 4 card"/>
          <p:cNvSpPr/>
          <p:nvPr/>
        </p:nvSpPr>
        <p:spPr>
          <a:xfrm>
            <a:off x="8970264" y="1508760"/>
            <a:ext cx="265176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6" name="Stat 4 value"/>
          <p:cNvSpPr txBox="1"/>
          <p:nvPr/>
        </p:nvSpPr>
        <p:spPr>
          <a:xfrm>
            <a:off x="9198864" y="16459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5,310</a:t>
            </a:r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 MW</a:t>
            </a:r>
            <a:endParaRPr lang="en-US" sz="3800" dirty="0"/>
          </a:p>
        </p:txBody>
      </p:sp>
      <p:sp>
        <p:nvSpPr>
          <p:cNvPr id="17" name="Stat 4 label"/>
          <p:cNvSpPr txBox="1"/>
          <p:nvPr/>
        </p:nvSpPr>
        <p:spPr>
          <a:xfrm>
            <a:off x="9198864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P95 buffer</a:t>
            </a:r>
            <a:endParaRPr lang="en-US" sz="1600" dirty="0"/>
          </a:p>
        </p:txBody>
      </p:sp>
      <p:sp>
        <p:nvSpPr>
          <p:cNvPr id="18" name="Stat 4 note"/>
          <p:cNvSpPr txBox="1"/>
          <p:nvPr/>
        </p:nvSpPr>
        <p:spPr>
          <a:xfrm>
            <a:off x="9198864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19 of 20 half-hours miss by less</a:t>
            </a:r>
            <a:endParaRPr lang="en-US" sz="1300" dirty="0"/>
          </a:p>
        </p:txBody>
      </p:sp>
      <p:sp>
        <p:nvSpPr>
          <p:cNvPr id="19" name="Chart card"/>
          <p:cNvSpPr/>
          <p:nvPr/>
        </p:nvSpPr>
        <p:spPr>
          <a:xfrm>
            <a:off x="548640" y="3657600"/>
            <a:ext cx="11064240" cy="256032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sp>
      <p:sp>
        <p:nvSpPr>
          <p:cNvPr id="20" name="Chart heading"/>
          <p:cNvSpPr txBox="1"/>
          <p:nvPr/>
        </p:nvSpPr>
        <p:spPr>
          <a:xfrm>
            <a:off x="822960" y="37673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Typical miss by forecast age</a:t>
            </a:r>
            <a:endParaRPr lang="en-US" sz="1600" dirty="0"/>
          </a:p>
        </p:txBody>
      </p:sp>
      <p:sp>
        <p:nvSpPr>
          <p:cNvPr id="21" name="Chart subheading"/>
          <p:cNvSpPr txBox="1"/>
          <p:nvPr/>
        </p:nvSpPr>
        <p:spPr>
          <a:xfrm>
            <a:off x="822960" y="40599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Forecasts improve as delivery gets closer: about 1.7 GW at 0-6 hours, 2.4 GW at 66-72 hours.</a:t>
            </a:r>
            <a:endParaRPr lang="en-US" sz="1300" dirty="0"/>
          </a:p>
        </p:txBody>
      </p:sp>
      <p:graphicFrame>
        <p:nvGraphicFramePr>
          <p:cNvPr id="22" name="Error by horizon chart" descr="Bar chart: mean absolute error in megawatts by hours between forecast publication and delivery, rising from 1,664 at 0 to 6 hours to 2,432 at 66 to 72 hours"/>
          <p:cNvGraphicFramePr/>
          <p:nvPr/>
        </p:nvGraphicFramePr>
        <p:xfrm>
          <a:off x="731520" y="4343400"/>
          <a:ext cx="1069848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Live demo</a:t>
            </a:r>
            <a:endParaRPr lang="en-US" sz="3400" dirty="0"/>
          </a:p>
        </p:txBody>
      </p:sp>
      <p:sp>
        <p:nvSpPr>
          <p:cNvPr id="3" name="Step 1 circle"/>
          <p:cNvSpPr/>
          <p:nvPr/>
        </p:nvSpPr>
        <p:spPr>
          <a:xfrm>
            <a:off x="548640" y="1783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Step 1 heading"/>
          <p:cNvSpPr txBox="1"/>
          <p:nvPr/>
        </p:nvSpPr>
        <p:spPr>
          <a:xfrm>
            <a:off x="1463040" y="1691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Decision view</a:t>
            </a:r>
            <a:endParaRPr lang="en-US" sz="2200" dirty="0"/>
          </a:p>
        </p:txBody>
      </p:sp>
      <p:sp>
        <p:nvSpPr>
          <p:cNvPr id="6" name="Step 1 text"/>
          <p:cNvSpPr txBox="1"/>
          <p:nvPr/>
        </p:nvSpPr>
        <p:spPr>
          <a:xfrm>
            <a:off x="1463040" y="21488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5 January, a typical day: the forecast that existed at 09:00</a:t>
            </a:r>
            <a:endParaRPr lang="en-US" sz="1500" dirty="0"/>
          </a:p>
        </p:txBody>
      </p:sp>
      <p:sp>
        <p:nvSpPr>
          <p:cNvPr id="7" name="Step 2 circle"/>
          <p:cNvSpPr/>
          <p:nvPr/>
        </p:nvSpPr>
        <p:spPr>
          <a:xfrm>
            <a:off x="548640" y="31546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tep 2 number"/>
          <p:cNvSpPr txBox="1"/>
          <p:nvPr/>
        </p:nvSpPr>
        <p:spPr>
          <a:xfrm>
            <a:off x="54864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tep 2 heading"/>
          <p:cNvSpPr txBox="1"/>
          <p:nvPr/>
        </p:nvSpPr>
        <p:spPr>
          <a:xfrm>
            <a:off x="1463040" y="30632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Accuracy view</a:t>
            </a:r>
            <a:endParaRPr lang="en-US" sz="2200" dirty="0"/>
          </a:p>
        </p:txBody>
      </p:sp>
      <p:sp>
        <p:nvSpPr>
          <p:cNvPr id="10" name="Step 2 text"/>
          <p:cNvSpPr txBox="1"/>
          <p:nvPr/>
        </p:nvSpPr>
        <p:spPr>
          <a:xfrm>
            <a:off x="1463040" y="35204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The metrics, the takeaway and the horizon chart</a:t>
            </a:r>
            <a:endParaRPr lang="en-US" sz="1500" dirty="0"/>
          </a:p>
        </p:txBody>
      </p:sp>
      <p:sp>
        <p:nvSpPr>
          <p:cNvPr id="11" name="Step 3 circle"/>
          <p:cNvSpPr/>
          <p:nvPr/>
        </p:nvSpPr>
        <p:spPr>
          <a:xfrm>
            <a:off x="548640" y="45262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tep 3 number"/>
          <p:cNvSpPr txBox="1"/>
          <p:nvPr/>
        </p:nvSpPr>
        <p:spPr>
          <a:xfrm>
            <a:off x="548640" y="4526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Step 3 heading"/>
          <p:cNvSpPr txBox="1"/>
          <p:nvPr/>
        </p:nvSpPr>
        <p:spPr>
          <a:xfrm>
            <a:off x="1463040" y="44348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Move the cutoff</a:t>
            </a:r>
            <a:endParaRPr lang="en-US" sz="2200" dirty="0"/>
          </a:p>
        </p:txBody>
      </p:sp>
      <p:sp>
        <p:nvSpPr>
          <p:cNvPr id="14" name="Step 3 text"/>
          <p:cNvSpPr txBox="1"/>
          <p:nvPr/>
        </p:nvSpPr>
        <p:spPr>
          <a:xfrm>
            <a:off x="1463040" y="48920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To 00:00 the last slots drop. Back to 09:00, nothing drops</a:t>
            </a:r>
            <a:endParaRPr lang="en-US" sz="1500" dirty="0"/>
          </a:p>
        </p:txBody>
      </p:sp>
      <p:pic>
        <p:nvPicPr>
          <p:cNvPr id="15" name="Decision view small" descr="Decision view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1691640"/>
            <a:ext cx="2926080" cy="261152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40000"/>
              </a:srgbClr>
            </a:outerShdw>
          </a:effectLst>
        </p:spPr>
      </p:pic>
      <p:pic>
        <p:nvPicPr>
          <p:cNvPr id="16" name="Accuracy view small" descr="Accuracy view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91640"/>
            <a:ext cx="2926080" cy="261152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40000"/>
              </a:srgbClr>
            </a:outerShdw>
          </a:effectLst>
        </p:spPr>
      </p:pic>
      <p:sp>
        <p:nvSpPr>
          <p:cNvPr id="17" name="Caption decision"/>
          <p:cNvSpPr txBox="1"/>
          <p:nvPr/>
        </p:nvSpPr>
        <p:spPr>
          <a:xfrm>
            <a:off x="553212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Decision view</a:t>
            </a:r>
            <a:endParaRPr lang="en-US" sz="1300" dirty="0"/>
          </a:p>
        </p:txBody>
      </p:sp>
      <p:sp>
        <p:nvSpPr>
          <p:cNvPr id="18" name="Caption accuracy"/>
          <p:cNvSpPr txBox="1"/>
          <p:nvPr/>
        </p:nvSpPr>
        <p:spPr>
          <a:xfrm>
            <a:off x="868680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Accuracy view</a:t>
            </a:r>
            <a:endParaRPr lang="en-US" sz="1300" dirty="0"/>
          </a:p>
        </p:txBody>
      </p:sp>
      <p:sp>
        <p:nvSpPr>
          <p:cNvPr id="19" name="Live link"/>
          <p:cNvSpPr txBox="1"/>
          <p:nvPr/>
        </p:nvSpPr>
        <p:spPr>
          <a:xfrm>
            <a:off x="5532120" y="5029200"/>
            <a:ext cx="6080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d1mocv.vercel.app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What we recommend</a:t>
            </a:r>
            <a:endParaRPr lang="en-US" sz="3400" dirty="0"/>
          </a:p>
        </p:txBody>
      </p:sp>
      <p:sp>
        <p:nvSpPr>
          <p:cNvPr id="3" name="Recommendation 1 card"/>
          <p:cNvSpPr/>
          <p:nvPr/>
        </p:nvSpPr>
        <p:spPr>
          <a:xfrm>
            <a:off x="548640" y="1645920"/>
            <a:ext cx="3566160" cy="3566160"/>
          </a:xfrm>
          <a:prstGeom prst="roundRect">
            <a:avLst>
              <a:gd name="adj" fmla="val 3077"/>
            </a:avLst>
          </a:prstGeom>
          <a:solidFill>
            <a:schemeClr val="bg1">
              <a:alpha val="9000"/>
            </a:schemeClr>
          </a:solidFill>
          <a:ln/>
        </p:spPr>
      </p:sp>
      <p:sp>
        <p:nvSpPr>
          <p:cNvPr id="4" name="Recommendation 1 circle"/>
          <p:cNvSpPr/>
          <p:nvPr/>
        </p:nvSpPr>
        <p:spPr>
          <a:xfrm>
            <a:off x="868680" y="201168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Recommendation 1 icon" descr="Recommendation 1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237537"/>
            <a:ext cx="416966" cy="416966"/>
          </a:xfrm>
          <a:prstGeom prst="rect">
            <a:avLst/>
          </a:prstGeom>
        </p:spPr>
      </p:pic>
      <p:sp>
        <p:nvSpPr>
          <p:cNvPr id="6" name="Recommendation 1 heading"/>
          <p:cNvSpPr txBox="1"/>
          <p:nvPr/>
        </p:nvSpPr>
        <p:spPr>
          <a:xfrm>
            <a:off x="868680" y="3108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Size the buffer from P95</a:t>
            </a:r>
            <a:endParaRPr lang="en-US" sz="2400" dirty="0"/>
          </a:p>
        </p:txBody>
      </p:sp>
      <p:sp>
        <p:nvSpPr>
          <p:cNvPr id="7" name="Recommendation 1 text"/>
          <p:cNvSpPr txBox="1"/>
          <p:nvPr/>
        </p:nvSpPr>
        <p:spPr>
          <a:xfrm>
            <a:off x="868680" y="402336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About 5.3 GW covered 19 of 20 January half-hours.</a:t>
            </a:r>
            <a:endParaRPr lang="en-US" sz="1700" dirty="0"/>
          </a:p>
        </p:txBody>
      </p:sp>
      <p:sp>
        <p:nvSpPr>
          <p:cNvPr id="8" name="Recommendation 2 card"/>
          <p:cNvSpPr/>
          <p:nvPr/>
        </p:nvSpPr>
        <p:spPr>
          <a:xfrm>
            <a:off x="4297680" y="1645920"/>
            <a:ext cx="3566160" cy="3566160"/>
          </a:xfrm>
          <a:prstGeom prst="roundRect">
            <a:avLst>
              <a:gd name="adj" fmla="val 3077"/>
            </a:avLst>
          </a:prstGeom>
          <a:solidFill>
            <a:schemeClr val="bg1">
              <a:alpha val="9000"/>
            </a:schemeClr>
          </a:solidFill>
          <a:ln/>
        </p:spPr>
      </p:sp>
      <p:sp>
        <p:nvSpPr>
          <p:cNvPr id="9" name="Recommendation 2 circle"/>
          <p:cNvSpPr/>
          <p:nvPr/>
        </p:nvSpPr>
        <p:spPr>
          <a:xfrm>
            <a:off x="4617720" y="201168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Recommendation 2 icon" descr="Recommendation 2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3577" y="2237537"/>
            <a:ext cx="416966" cy="416966"/>
          </a:xfrm>
          <a:prstGeom prst="rect">
            <a:avLst/>
          </a:prstGeom>
        </p:spPr>
      </p:pic>
      <p:sp>
        <p:nvSpPr>
          <p:cNvPr id="11" name="Recommendation 2 heading"/>
          <p:cNvSpPr txBox="1"/>
          <p:nvPr/>
        </p:nvSpPr>
        <p:spPr>
          <a:xfrm>
            <a:off x="4617720" y="3108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Watch the bias</a:t>
            </a:r>
            <a:endParaRPr lang="en-US" sz="2400" dirty="0"/>
          </a:p>
        </p:txBody>
      </p:sp>
      <p:sp>
        <p:nvSpPr>
          <p:cNvPr id="12" name="Recommendation 2 text"/>
          <p:cNvSpPr txBox="1"/>
          <p:nvPr/>
        </p:nvSpPr>
        <p:spPr>
          <a:xfrm>
            <a:off x="4617720" y="402336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The forecast runs 1.7 GW high. Consider a correction study.</a:t>
            </a:r>
            <a:endParaRPr lang="en-US" sz="1700" dirty="0"/>
          </a:p>
        </p:txBody>
      </p:sp>
      <p:sp>
        <p:nvSpPr>
          <p:cNvPr id="13" name="Recommendation 3 card"/>
          <p:cNvSpPr/>
          <p:nvPr/>
        </p:nvSpPr>
        <p:spPr>
          <a:xfrm>
            <a:off x="8046720" y="1645920"/>
            <a:ext cx="3566160" cy="3566160"/>
          </a:xfrm>
          <a:prstGeom prst="roundRect">
            <a:avLst>
              <a:gd name="adj" fmla="val 3077"/>
            </a:avLst>
          </a:prstGeom>
          <a:solidFill>
            <a:schemeClr val="bg1">
              <a:alpha val="9000"/>
            </a:schemeClr>
          </a:solidFill>
          <a:ln/>
        </p:spPr>
      </p:sp>
      <p:sp>
        <p:nvSpPr>
          <p:cNvPr id="14" name="Recommendation 3 circle"/>
          <p:cNvSpPr/>
          <p:nvPr/>
        </p:nvSpPr>
        <p:spPr>
          <a:xfrm>
            <a:off x="8366760" y="201168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Recommendation 3 icon" descr="Recommendation 3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2237537"/>
            <a:ext cx="416966" cy="416966"/>
          </a:xfrm>
          <a:prstGeom prst="rect">
            <a:avLst/>
          </a:prstGeom>
        </p:spPr>
      </p:pic>
      <p:sp>
        <p:nvSpPr>
          <p:cNvPr id="16" name="Recommendation 3 heading"/>
          <p:cNvSpPr txBox="1"/>
          <p:nvPr/>
        </p:nvSpPr>
        <p:spPr>
          <a:xfrm>
            <a:off x="8366760" y="3108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Next steps</a:t>
            </a:r>
            <a:endParaRPr lang="en-US" sz="2400" dirty="0"/>
          </a:p>
        </p:txBody>
      </p:sp>
      <p:sp>
        <p:nvSpPr>
          <p:cNvPr id="17" name="Recommendation 3 text"/>
          <p:cNvSpPr txBox="1"/>
          <p:nvPr/>
        </p:nvSpPr>
        <p:spPr>
          <a:xfrm>
            <a:off x="8366760" y="402336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Scheduled live ingest, out-of-sample validation, other fuels.</a:t>
            </a:r>
            <a:endParaRPr lang="en-US" sz="1700" dirty="0"/>
          </a:p>
        </p:txBody>
      </p:sp>
      <p:sp>
        <p:nvSpPr>
          <p:cNvPr id="18" name="Thanks line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Thank you  ·  d1mocv.vercel.app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ind forecast desk">
  <a:themeElements>
    <a:clrScheme name="Wind forecast desk">
      <a:dk1>
        <a:srgbClr val="0F172A"/>
      </a:dk1>
      <a:lt1>
        <a:srgbClr val="FFFFFF"/>
      </a:lt1>
      <a:dk2>
        <a:srgbClr val="0B1F4B"/>
      </a:dk2>
      <a:lt2>
        <a:srgbClr val="EEF2F8"/>
      </a:lt2>
      <a:accent1>
        <a:srgbClr val="1D4ED8"/>
      </a:accent1>
      <a:accent2>
        <a:srgbClr val="C2410C"/>
      </a:accent2>
      <a:accent3>
        <a:srgbClr val="0F766E"/>
      </a:accent3>
      <a:accent4>
        <a:srgbClr val="BFDBFE"/>
      </a:accent4>
      <a:accent5>
        <a:srgbClr val="64748B"/>
      </a:accent5>
      <a:accent6>
        <a:srgbClr val="FDBA74"/>
      </a:accent6>
      <a:hlink>
        <a:srgbClr val="1D4ED8"/>
      </a:hlink>
      <a:folHlink>
        <a:srgbClr val="64748B"/>
      </a:folHlink>
    </a:clrScheme>
    <a:fontScheme name="Wind forecast des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Wind forecast desk: pilot results</dc:title>
  <dc:subject>Day-ahead wind forecast pilot, January 2026</dc:subject>
  <dc:creator>PptxGenJS</dc:creator>
  <cp:lastModifiedBy>PptxGenJS</cp:lastModifiedBy>
  <cp:revision>1</cp:revision>
  <dcterms:created xsi:type="dcterms:W3CDTF">2026-10-28T06:15:37Z</dcterms:created>
  <dcterms:modified xsi:type="dcterms:W3CDTF">2026-10-28T06:15:37Z</dcterms:modified>
</cp:coreProperties>
</file>